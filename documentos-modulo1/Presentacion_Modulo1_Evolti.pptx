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82296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640080"/>
            <a:ext cx="1371600" cy="1371600"/>
          </a:xfrm>
          <a:prstGeom prst="ellipse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Diagnóstico y Plan de Transformación</a:t>
            </a:r>
          </a:p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del Proceso de Compras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E09A1A"/>
                </a:solidFill>
                <a:latin typeface="Calibri"/>
              </a:rPr>
              <a:t>Hacia un modelo de procurement estratégico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Caso: Evolti — Desarrollo y construcción de granjas solares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2F5F7"/>
                </a:solidFill>
                <a:latin typeface="Calibri"/>
              </a:rPr>
              <a:t>Presentación ejecutiva · Módulo 1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F2F5F7"/>
                </a:solidFill>
                <a:latin typeface="Calibri"/>
              </a:rPr>
              <a:t>Diplomado en Procurement Estratégico y Abastecimiento Sostenible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F2F5F7"/>
                </a:solidFill>
                <a:latin typeface="Calibri"/>
              </a:rPr>
              <a:t>Pontificia Universidad Javeriana Cali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F2F5F7"/>
                </a:solidFill>
                <a:latin typeface="Calibri"/>
              </a:rPr>
              <a:t>Presentado por: [Tu nombre]   |   Rol: Consultora de abastecimiento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De compras tácticas a procurement estratégico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1F3864"/>
                </a:solidFill>
                <a:latin typeface="Calibri"/>
              </a:rPr>
              <a:t>• Reto: </a:t>
            </a:r>
            <a:r>
              <a:rPr sz="1600">
                <a:solidFill>
                  <a:srgbClr val="222222"/>
                </a:solidFill>
                <a:latin typeface="Calibri"/>
              </a:rPr>
              <a:t>Evolti compra ~70% del costo de cada granja solar, pero compras opera de forma reactiva.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1F3864"/>
                </a:solidFill>
                <a:latin typeface="Calibri"/>
              </a:rPr>
              <a:t>• Oportunidad: </a:t>
            </a:r>
            <a:r>
              <a:rPr sz="1600">
                <a:solidFill>
                  <a:srgbClr val="222222"/>
                </a:solidFill>
                <a:latin typeface="Calibri"/>
              </a:rPr>
              <a:t>profesionalizar el abastecimiento genera ahorro, controla riesgos y mejora cronogramas.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1F3864"/>
                </a:solidFill>
                <a:latin typeface="Calibri"/>
              </a:rPr>
              <a:t>• Enfoque del módulo: </a:t>
            </a:r>
            <a:r>
              <a:rPr sz="1600">
                <a:solidFill>
                  <a:srgbClr val="222222"/>
                </a:solidFill>
                <a:latin typeface="Calibri"/>
              </a:rPr>
              <a:t>datos → estructura → foco → gobierno → medición.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 b="1">
                <a:solidFill>
                  <a:srgbClr val="1F3864"/>
                </a:solidFill>
                <a:latin typeface="Calibri"/>
              </a:rPr>
              <a:t>• Meta: </a:t>
            </a:r>
            <a:r>
              <a:rPr sz="1600">
                <a:solidFill>
                  <a:srgbClr val="222222"/>
                </a:solidFill>
                <a:latin typeface="Calibri"/>
              </a:rPr>
              <a:t>un plan a 12 meses realista para un equipo pequeño.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63040"/>
            <a:ext cx="5394960" cy="44805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463040"/>
            <a:ext cx="539496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81328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Caracterización y diagnóstico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Árbol de categorías y spend analysis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Matriz de Kraljic y estrategias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Tablero de KPIs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Modelo de gobierno (RACI y umbrales)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Plan de transformación a 12 meses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Impacto esperado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1 · CARACTERIZACIÓN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¿Quién es Evolti?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06040" cy="18288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60604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2606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377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Empresa privada · modelo EPC (ingeniería, compras y construcción)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606040" cy="18288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463040"/>
            <a:ext cx="260604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481328"/>
            <a:ext cx="2606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377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Energía solar fotovoltaica — construcción de granjas solares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79" y="1463040"/>
            <a:ext cx="2606040" cy="18288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79" y="1463040"/>
            <a:ext cx="260604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1481328"/>
            <a:ext cx="2606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Tamaño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7" y="2057400"/>
            <a:ext cx="2377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Mediana en crecimiento, operación por proyectos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399" y="1463040"/>
            <a:ext cx="2606040" cy="182880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399" y="1463040"/>
            <a:ext cx="260604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399" y="1481328"/>
            <a:ext cx="2606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Peso de compras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7" y="2057400"/>
            <a:ext cx="2377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Alto: materiales y subcontratos &gt; 70% del costo de obra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6E4F"/>
                </a:solidFill>
                <a:latin typeface="Calibri"/>
              </a:rPr>
              <a:t>Principales categorías de compra y riesgos visibles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Componentes fotovoltaicos (paneles, inversores)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Estructuras y montaje / soportería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Materiales eléctricos (BOS)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Obra civil, transporte y servicios de ingeniería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0233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Dependencia de proveedores internacionales (precio, TRM, importación)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Compras urgentes = maverick spend y sobrecostos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Concentración en pocos proveedores críticos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Trazabilidad limitada del gasto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2 · 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Nivel de madurez: táctico–reactivo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592"/>
                <a:gridCol w="6761480"/>
                <a:gridCol w="1598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Situación actual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Enfoque del área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Reactivo: responde a la obra, poca planeación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Táctico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Uso de datos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Excel y correos; sin spend analysis formal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Proveedores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Relación transaccional, se elige por precio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Básico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Gobierno / políticas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Prácticas poco documentadas, controles informales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Bajo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KPIs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 mide poco: 'cuánto costó' y 'si llegó'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Sostenibilidad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Aún no formalizada como criterio de compra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Incipiente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Calibri"/>
              </a:rPr>
              <a:t>Debilidades clave: falta de datos confiables · sin segmentación del gasto · controles informales · dependencia de proveedores críticos · medición débil.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2 · 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Riesgos: maverick spend e integridad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64592" cy="1280160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554480"/>
            <a:ext cx="10881360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6420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09A1A"/>
                </a:solidFill>
                <a:latin typeface="Calibri"/>
              </a:rPr>
              <a:t>Maverick spend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22222"/>
                </a:solidFill>
                <a:latin typeface="Calibri"/>
              </a:rPr>
              <a:t>Compras por fuera del proceso por urgencia de obra → sobrecosto y menos control.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39"/>
            <a:ext cx="164592" cy="128016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39"/>
            <a:ext cx="10881360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72967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6E4F"/>
                </a:solidFill>
                <a:latin typeface="Calibri"/>
              </a:rPr>
              <a:t>Integridad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30167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22222"/>
                </a:solidFill>
                <a:latin typeface="Calibri"/>
              </a:rPr>
              <a:t>Adjudicar siempre al mismo proveedor sin comparar; falta de segregación de funciones.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6459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572000"/>
            <a:ext cx="10881360" cy="12801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3864"/>
                </a:solidFill>
                <a:latin typeface="Calibri"/>
              </a:rPr>
              <a:t>Centralización 'de hecho'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38928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22222"/>
                </a:solidFill>
                <a:latin typeface="Calibri"/>
              </a:rPr>
              <a:t>Los proyectos compran por su cuenta → se pierde poder de negociación.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3 · ÁRBOL DE CATEGORÍAS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Segmentar el gasto para poder decidir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2651760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517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1. Componentes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fotovoltaicos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83464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83464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3464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1.1 Paneles solares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0332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0332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70332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1.2 Inversores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5848" y="1600200"/>
            <a:ext cx="2651760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1645920"/>
            <a:ext cx="26517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2. Estructuras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y montaje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38728" y="283464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38728" y="283464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83464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2.1 Soporte (fija/seguidores)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38728" y="370332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8728" y="370332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370332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2.2 Anclajes y cimentación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8776" y="1600200"/>
            <a:ext cx="2651760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1645920"/>
            <a:ext cx="26517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3. Materiales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eléctricos (BOS)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283464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1656" y="283464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3464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3.1 Cableado y conexiones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656" y="370332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91656" y="370332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70332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3.2 Tableros y transformadores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61704" y="1600200"/>
            <a:ext cx="2651760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61704" y="1645920"/>
            <a:ext cx="26517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4. Obra civil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y servicios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44584" y="283464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44584" y="283464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9176" y="283464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4.1 Obra civil / mov. tierra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44584" y="3703320"/>
            <a:ext cx="2286000" cy="713232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44584" y="3703320"/>
            <a:ext cx="91440" cy="713232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9176" y="3703320"/>
            <a:ext cx="21031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222"/>
                </a:solidFill>
                <a:latin typeface="Calibri"/>
              </a:rPr>
              <a:t>4.2 Transporte e ingeniería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55555"/>
                </a:solidFill>
                <a:latin typeface="Calibri"/>
              </a:rPr>
              <a:t>4 categorías principales · 2 subcategorías cada una. Base para el cubo del gasto y el análisis de Pareto.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555555"/>
                </a:solidFill>
                <a:latin typeface="Calibri"/>
              </a:rPr>
              <a:t>"No hay estrategia sin segmentación del gasto."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4 · SPEND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Análisis de Pareto (80/20)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6400798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882"/>
                <a:gridCol w="1506070"/>
                <a:gridCol w="941294"/>
                <a:gridCol w="112955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Categoría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Gasto (MM)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% acum.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1. Fotovoltaicos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18.000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2. Estructuras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8.000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3. Eléctricos (BOS)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6.000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4. Obra civil/serv.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5.200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Otras menores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2.800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40.000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2194560"/>
            <a:ext cx="548640" cy="29260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51206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Fot.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1901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6E4F"/>
                </a:solidFill>
                <a:latin typeface="Calibri"/>
              </a:rPr>
              <a:t>45%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3820160"/>
            <a:ext cx="548640" cy="13004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51206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Estr.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5275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6E4F"/>
                </a:solidFill>
                <a:latin typeface="Calibri"/>
              </a:rPr>
              <a:t>20%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4145280"/>
            <a:ext cx="548640" cy="975360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51206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Eléc.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85267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E09A1A"/>
                </a:solidFill>
                <a:latin typeface="Calibri"/>
              </a:rPr>
              <a:t>15%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46920" y="4275328"/>
            <a:ext cx="548640" cy="84531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51206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Obra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9827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F3864"/>
                </a:solidFill>
                <a:latin typeface="Calibri"/>
              </a:rPr>
              <a:t>13%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24160" y="4665472"/>
            <a:ext cx="548640" cy="45516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51206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Otras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4372864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555555"/>
                </a:solidFill>
                <a:latin typeface="Calibri"/>
              </a:rPr>
              <a:t>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864"/>
                </a:solidFill>
                <a:latin typeface="Calibri"/>
              </a:rPr>
              <a:t>Concentración del gasto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6E4F"/>
                </a:solidFill>
                <a:latin typeface="Calibri"/>
              </a:rPr>
              <a:t>Hallazgo: Top 2 = 65% · Top 3 = 80% del gasto. Foco inicial en fotovoltaicos y estructuras.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4 · SPEND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Gasto impactado: ahorros creíbles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22222"/>
                </a:solidFill>
                <a:latin typeface="Calibri"/>
              </a:rPr>
              <a:t>No se promete ahorro sobre toda la categoría, sino sobre lo que realmente se puede intervenir.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06040" cy="21945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2606040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F3864"/>
                </a:solidFill>
                <a:latin typeface="Calibri"/>
              </a:rPr>
              <a:t>$18.000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2423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Categoría fotovoltaicos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175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2286000"/>
            <a:ext cx="2606040" cy="21945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2286000"/>
            <a:ext cx="2606040" cy="109728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1568" y="2514600"/>
            <a:ext cx="2606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6E4F"/>
                </a:solidFill>
                <a:latin typeface="Calibri"/>
              </a:rPr>
              <a:t>$4.200 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200400"/>
            <a:ext cx="2423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Subcat. inversores (con palanca)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33288" y="30175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286000"/>
            <a:ext cx="2606040" cy="21945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286000"/>
            <a:ext cx="2606040" cy="109728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514600"/>
            <a:ext cx="2606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09A1A"/>
                </a:solidFill>
                <a:latin typeface="Calibri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200400"/>
            <a:ext cx="2423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Meta de ahorro realista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86216" y="30175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07424" y="2286000"/>
            <a:ext cx="2606040" cy="219456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07424" y="2286000"/>
            <a:ext cx="2606040" cy="109728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424" y="2514600"/>
            <a:ext cx="2606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6E4F"/>
                </a:solidFill>
                <a:latin typeface="Calibri"/>
              </a:rPr>
              <a:t>$336 MM/año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3200400"/>
            <a:ext cx="2423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Ahorro esperado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Calibri"/>
              </a:rPr>
              <a:t>Gasto objetivo = 4.200 − 336 = $3.864 MM. El ahorro se calcula sobre el gasto 'que se puede tocar' → propuesta defendible ante la gerencia.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5 · APLICACIÓN ESTRATÉGICA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Matriz de Kraljic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554480"/>
            <a:ext cx="4206240" cy="1920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1554480"/>
            <a:ext cx="4206240" cy="45720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ESTRATÉGICOS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1031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Paneles, inversores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Alianzas, contratos marco, dual sourcing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4206240" cy="1920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4206240" cy="457200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CUELLO DE BOTELLA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Transformadores, equipos esp.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Stock de seguridad, proveedor alterno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3657600"/>
            <a:ext cx="4206240" cy="1920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3657600"/>
            <a:ext cx="420624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3657600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APALANCADOS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20624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Estructuras, cableado, obra civil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Licitar, subastar, consolidar volumen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657600"/>
            <a:ext cx="4206240" cy="19202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657600"/>
            <a:ext cx="4206240" cy="4572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657600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RUTINARIOS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0624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Insumos menores, EPP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222222"/>
                </a:solidFill>
                <a:latin typeface="Calibri"/>
              </a:rPr>
              <a:t>Automatizar con catálogos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1554480"/>
            <a:ext cx="1645920" cy="3931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F3864"/>
                </a:solidFill>
                <a:latin typeface="Calibri"/>
              </a:rPr>
              <a:t>IMPACTO EN EL RESULTADO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53212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F3864"/>
                </a:solidFill>
                <a:latin typeface="Calibri"/>
              </a:rPr>
              <a:t>RIESGO DE SUMINISTRO 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73736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6E4F"/>
                </a:solidFill>
                <a:latin typeface="Calibri"/>
              </a:rPr>
              <a:t>Categorías críticas: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1945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Paneles e inversores (estratégicos): planeación conjunta y contratos de largo plazo.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Transformadores (cuello de botella): anticipar y asegurar suministro.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Estrategia diferenciada por cuadrante = mejor uso del equipo.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6 ·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Tablero de indicadores estratégicos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6300"/>
                <a:gridCol w="2811780"/>
                <a:gridCol w="1499616"/>
                <a:gridCol w="2249424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KPI (dimensión)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Period.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Responsable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Tiempo de ciclo de compra (Eficiencia)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Reducir ciclo y urgencias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Mensual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Analista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Entrega a tiempo OTD (Desempeño prov.)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≥ 92%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Mensual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Coordinador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Críticos con plan de continuidad (Riesgo)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Trimestral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Jefe abastec.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Gasto bajo contrato (Cumplimiento)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Mensual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Jefe abastec.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Compras sostenibles ESG (Sostenibilidad)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≥ 30% (ISO 20400)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Trimestral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222222"/>
                          </a:solidFill>
                          <a:latin typeface="Calibri"/>
                        </a:rPr>
                        <a:t>Compras+Gerencia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Calibri"/>
              </a:rPr>
              <a:t>Metas tipo semáforo (verde/amarillo/rojo). Cuidar riesgos: métricas vanidosas, inflar ahorros, greenwashing.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7 · GOBIERNO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Modelo híbrido: RACI y umbrales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6E4F"/>
                </a:solidFill>
                <a:latin typeface="Calibri"/>
              </a:rPr>
              <a:t>Matriz RACI (extracto)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566927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904"/>
                <a:gridCol w="821634"/>
                <a:gridCol w="903798"/>
                <a:gridCol w="739471"/>
                <a:gridCol w="739471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Solic.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Jefe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Gcia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Requisición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Cotizar/comparar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Adjudicar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Aprobar (umbral)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Pagar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1417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6E4F"/>
                </a:solidFill>
                <a:latin typeface="Calibri"/>
              </a:rPr>
              <a:t>Umbrales de aprobación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828800"/>
          <a:ext cx="5303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Monto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Aprueba</a:t>
                      </a:r>
                    </a:p>
                  </a:txBody>
                  <a:tcPr marT="25400" marB="25400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Hasta $10 MM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Jefe abastecimiento (1 cotiz.)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$10–50 MM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Jefe + Gcia proyecto (3 cotiz.)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$50–200 MM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Gerencia general + comité</a:t>
                      </a:r>
                    </a:p>
                  </a:txBody>
                  <a:tcPr marT="12700" marB="12700" marL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&gt; $200 MM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Comité directivo / Junta</a:t>
                      </a:r>
                    </a:p>
                  </a:txBody>
                  <a:tcPr marT="12700" marB="12700" marL="50800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029200"/>
            <a:ext cx="11155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Calibri"/>
              </a:rPr>
              <a:t>Controles internos: segregación de funciones · mínimo 3 cotizaciones · contratos marco y catálogos (anti-maverick) · trazabilidad del ciclo · declaración de conflictos de interés.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09A1A"/>
                </a:solidFill>
                <a:latin typeface="Calibri"/>
              </a:rPr>
              <a:t>8 · PLAN DE TRANSFORMACIÓN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Hoja de ruta a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566160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Meses 1–3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06040"/>
            <a:ext cx="3566160" cy="23774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3864"/>
                </a:solidFill>
                <a:latin typeface="Calibri"/>
              </a:rPr>
              <a:t>Ordenar datos y gasto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3291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222222"/>
                </a:solidFill>
                <a:latin typeface="Calibri"/>
              </a:rPr>
              <a:t>Base limpia + árbol + cubo + Pareto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338328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3566160" cy="868680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64208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Meses 4–8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606040"/>
            <a:ext cx="3566160" cy="23774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74320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B6E4F"/>
                </a:solidFill>
                <a:latin typeface="Calibri"/>
              </a:rPr>
              <a:t>Negociar categorías clave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83280"/>
            <a:ext cx="3291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222222"/>
                </a:solidFill>
                <a:latin typeface="Calibri"/>
              </a:rPr>
              <a:t>Contratos marco, dual sourcing, licitaciones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38328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555555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566160" cy="868680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664208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Meses 9–12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606040"/>
            <a:ext cx="3566160" cy="2377440"/>
          </a:xfrm>
          <a:prstGeom prst="rect">
            <a:avLst/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74320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09A1A"/>
                </a:solidFill>
                <a:latin typeface="Calibri"/>
              </a:rPr>
              <a:t>Gobierno, KPIs y ESG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383280"/>
            <a:ext cx="3291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222222"/>
                </a:solidFill>
                <a:latin typeface="Calibri"/>
              </a:rPr>
              <a:t>Política, RACI, umbrales, tablero, ISO 20400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Calibri"/>
              </a:rPr>
              <a:t>Riesgos del cambio: resistencia de obra · falta de tiempo del equipo · calidad de datos · buscar solo ahorro. Mitigación: quick wins, comunicación y patrocinio de la gerencia.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Evolti · Módulo 1 — Procurement Estratégico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Impacto esperado y conclusión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474720" cy="2103120"/>
          </a:xfrm>
          <a:prstGeom prst="rect">
            <a:avLst/>
          </a:prstGeom>
          <a:solidFill>
            <a:srgbClr val="2A4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474720" cy="109728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09A1A"/>
                </a:solidFill>
                <a:latin typeface="Calibri"/>
              </a:rPr>
              <a:t>8–12%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Ahorro sobre gasto impactado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474720" cy="2103120"/>
          </a:xfrm>
          <a:prstGeom prst="rect">
            <a:avLst/>
          </a:prstGeom>
          <a:solidFill>
            <a:srgbClr val="2A4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737360"/>
            <a:ext cx="3474720" cy="109728"/>
          </a:xfrm>
          <a:prstGeom prst="rect">
            <a:avLst/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0312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6E4F"/>
                </a:solidFill>
                <a:latin typeface="Calibri"/>
              </a:rPr>
              <a:t>−Riesgo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71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Continuidad y control (dual sourcing, segregación)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59" y="1737360"/>
            <a:ext cx="3474720" cy="2103120"/>
          </a:xfrm>
          <a:prstGeom prst="rect">
            <a:avLst/>
          </a:prstGeom>
          <a:solidFill>
            <a:srgbClr val="2A4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737360"/>
            <a:ext cx="3474720" cy="109728"/>
          </a:xfrm>
          <a:prstGeom prst="rect">
            <a:avLst/>
          </a:prstGeom>
          <a:solidFill>
            <a:srgbClr val="E0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2103120"/>
            <a:ext cx="347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09A1A"/>
                </a:solidFill>
                <a:latin typeface="Calibri"/>
              </a:rPr>
              <a:t>+Competitividad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2971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Cumplir cronogramas y sumar sostenibilidad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108813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F2F5F7"/>
                </a:solidFill>
                <a:latin typeface="Calibri"/>
              </a:rPr>
              <a:t>Evolti pasa de compras tácticas a procurement estratégico cuando tiene datos confiables, estructura, foco (Pareto), alcance real (gasto impactado), mecanismos adecuados y control con KPIs. Compras deja de 'apagar incendios' y se convierte en una palanca de valor para toda la empresa.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09A1A"/>
                </a:solidFill>
                <a:latin typeface="Calibri"/>
              </a:rPr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