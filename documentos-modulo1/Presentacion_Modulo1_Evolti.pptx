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17720"/>
            <a:ext cx="12191695" cy="82296"/>
          </a:xfrm>
          <a:prstGeom prst="rect">
            <a:avLst/>
          </a:prstGeom>
          <a:solidFill>
            <a:srgbClr val="E09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640080"/>
            <a:ext cx="1371600" cy="1371600"/>
          </a:xfrm>
          <a:prstGeom prst="ellipse">
            <a:avLst/>
          </a:prstGeom>
          <a:solidFill>
            <a:srgbClr val="E09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Diagnóstico y Plan de Transformación</a:t>
            </a:r>
          </a:p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del Proceso de Compras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E09A1A"/>
                </a:solidFill>
                <a:latin typeface="Calibri"/>
              </a:rPr>
              <a:t>Hacia un modelo de procurement estratégico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77639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FFFFF"/>
                </a:solidFill>
                <a:latin typeface="Calibri"/>
              </a:rPr>
              <a:t>Caso: Evolti — Desarrollo y construcción de granjas solares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3776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2F5F7"/>
                </a:solidFill>
                <a:latin typeface="Calibri"/>
              </a:rPr>
              <a:t>Presentación ejecutiva · Módulo 1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2F5F7"/>
                </a:solidFill>
                <a:latin typeface="Calibri"/>
              </a:rPr>
              <a:t>Diplomado en Procurement Estratégico y Abastecimiento Sostenible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2F5F7"/>
                </a:solidFill>
                <a:latin typeface="Calibri"/>
              </a:rPr>
              <a:t>Pontificia Universidad Javeriana Cali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2F5F7"/>
                </a:solidFill>
                <a:latin typeface="Calibri"/>
              </a:rPr>
              <a:t>Presentado por: Laura Sofía Salas Rosero   |   Rol: Consultora de abastecimiento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E09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9A1A"/>
                </a:solidFill>
                <a:latin typeface="Calibri"/>
              </a:rPr>
              <a:t>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De compras tácticas a procurement estratégico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00" b="1">
                <a:solidFill>
                  <a:srgbClr val="1F3864"/>
                </a:solidFill>
                <a:latin typeface="Calibri"/>
              </a:rPr>
              <a:t>• Reto: </a:t>
            </a:r>
            <a:r>
              <a:rPr sz="1600">
                <a:solidFill>
                  <a:srgbClr val="222222"/>
                </a:solidFill>
                <a:latin typeface="Calibri"/>
              </a:rPr>
              <a:t>Evolti compra ~70% del costo de cada granja solar, pero compras opera de forma reactiva.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00" b="1">
                <a:solidFill>
                  <a:srgbClr val="1F3864"/>
                </a:solidFill>
                <a:latin typeface="Calibri"/>
              </a:rPr>
              <a:t>• Oportunidad: </a:t>
            </a:r>
            <a:r>
              <a:rPr sz="1600">
                <a:solidFill>
                  <a:srgbClr val="222222"/>
                </a:solidFill>
                <a:latin typeface="Calibri"/>
              </a:rPr>
              <a:t>profesionalizar el abastecimiento genera ahorro, controla riesgos y mejora cronogramas.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00" b="1">
                <a:solidFill>
                  <a:srgbClr val="1F3864"/>
                </a:solidFill>
                <a:latin typeface="Calibri"/>
              </a:rPr>
              <a:t>• Enfoque del módulo: </a:t>
            </a:r>
            <a:r>
              <a:rPr sz="1600">
                <a:solidFill>
                  <a:srgbClr val="222222"/>
                </a:solidFill>
                <a:latin typeface="Calibri"/>
              </a:rPr>
              <a:t>datos → estructura → foco → gobierno → medición.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00" b="1">
                <a:solidFill>
                  <a:srgbClr val="1F3864"/>
                </a:solidFill>
                <a:latin typeface="Calibri"/>
              </a:rPr>
              <a:t>• Meta: </a:t>
            </a:r>
            <a:r>
              <a:rPr sz="1600">
                <a:solidFill>
                  <a:srgbClr val="222222"/>
                </a:solidFill>
                <a:latin typeface="Calibri"/>
              </a:rPr>
              <a:t>un plan a 12 meses realista para un equipo pequeño.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463040"/>
            <a:ext cx="5394960" cy="44805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463040"/>
            <a:ext cx="5394960" cy="45720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81328"/>
            <a:ext cx="5029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Contenido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031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Caracterización y diagnóstico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Árbol de categorías y spend analysis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Matriz de Kraljic y estrategias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Tablero de KPIs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Modelo de gobierno (RACI y umbrales)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Plan de transformación a 12 meses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Impacto esperado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55555"/>
                </a:solidFill>
                <a:latin typeface="Calibri"/>
              </a:rPr>
              <a:t>Evolti · Módulo 1 — Procurement Estratégico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5555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E09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9A1A"/>
                </a:solidFill>
                <a:latin typeface="Calibri"/>
              </a:rPr>
              <a:t>1 · CARACTERIZACIÓN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¿Quién es Evolti?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606040" cy="182880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2606040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2606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Tipo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57400"/>
            <a:ext cx="23774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222222"/>
                </a:solidFill>
                <a:latin typeface="Calibri"/>
              </a:rPr>
              <a:t>Empresa privada · modelo EPC (ingeniería, compras y construcción)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463040"/>
            <a:ext cx="2606040" cy="182880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463040"/>
            <a:ext cx="2606040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481328"/>
            <a:ext cx="2606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Sector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2057400"/>
            <a:ext cx="23774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222222"/>
                </a:solidFill>
                <a:latin typeface="Calibri"/>
              </a:rPr>
              <a:t>Energía solar fotovoltaica — construcción de granjas solares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79" y="1463040"/>
            <a:ext cx="2606040" cy="182880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79" y="1463040"/>
            <a:ext cx="2606040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79" y="1481328"/>
            <a:ext cx="2606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Tamaño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7" y="2057400"/>
            <a:ext cx="23774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222222"/>
                </a:solidFill>
                <a:latin typeface="Calibri"/>
              </a:rPr>
              <a:t>Mediana en crecimiento, operación por proyectos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15399" y="1463040"/>
            <a:ext cx="2606040" cy="182880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15399" y="1463040"/>
            <a:ext cx="2606040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399" y="1481328"/>
            <a:ext cx="2606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Peso de compras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5127" y="2057400"/>
            <a:ext cx="23774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222222"/>
                </a:solidFill>
                <a:latin typeface="Calibri"/>
              </a:rPr>
              <a:t>Alto: materiales y subcontratos &gt; 70% del costo de obra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5661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6E4F"/>
                </a:solidFill>
                <a:latin typeface="Calibri"/>
              </a:rPr>
              <a:t>Principales categorías de compra y riesgos visibles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023360"/>
            <a:ext cx="5577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Componentes fotovoltaicos (paneles, inversores)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Estructuras y montaje / soportería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Materiales eléctricos (BOS)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Obra civil, transporte y servicios de ingeniería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02336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Dependencia de proveedores internacionales (precio, TRM, importación)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Compras urgentes = maverick spend y sobrecostos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Concentración en pocos proveedores críticos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Trazabilidad limitada del gasto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55555"/>
                </a:solidFill>
                <a:latin typeface="Calibri"/>
              </a:rPr>
              <a:t>Evolti · Módulo 1 — Procurement Estratégico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5555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E09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9A1A"/>
                </a:solidFill>
                <a:latin typeface="Calibri"/>
              </a:rPr>
              <a:t>2 · DIAGNÓSTICO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Nivel de madurez: táctico–reactivo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10642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4592"/>
                <a:gridCol w="6761480"/>
                <a:gridCol w="1598168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Dimensión</a:t>
                      </a:r>
                    </a:p>
                  </a:txBody>
                  <a:tcPr marT="25400" marB="254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Situación actual</a:t>
                      </a:r>
                    </a:p>
                  </a:txBody>
                  <a:tcPr marT="25400" marB="254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Nivel</a:t>
                      </a:r>
                    </a:p>
                  </a:txBody>
                  <a:tcPr marT="25400" marB="25400"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Enfoque del área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Reactivo: responde a la obra, poca planeación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Táctico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Uso de datos</a:t>
                      </a:r>
                    </a:p>
                  </a:txBody>
                  <a:tcPr marT="12700" marB="12700" marL="50800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Excel y correos; sin spend analysis formal</a:t>
                      </a:r>
                    </a:p>
                  </a:txBody>
                  <a:tcPr marT="12700" marB="12700" marL="50800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Inicial</a:t>
                      </a:r>
                    </a:p>
                  </a:txBody>
                  <a:tcPr marT="12700" marB="12700" marL="50800">
                    <a:solidFill>
                      <a:srgbClr val="F2F5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Proveedores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Relación transaccional, se elige por precio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Básico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Gobierno / políticas</a:t>
                      </a:r>
                    </a:p>
                  </a:txBody>
                  <a:tcPr marT="12700" marB="12700" marL="50800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Prácticas poco documentadas, controles informales</a:t>
                      </a:r>
                    </a:p>
                  </a:txBody>
                  <a:tcPr marT="12700" marB="12700" marL="50800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Bajo</a:t>
                      </a:r>
                    </a:p>
                  </a:txBody>
                  <a:tcPr marT="12700" marB="12700" marL="50800">
                    <a:solidFill>
                      <a:srgbClr val="F2F5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KPIs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Se mide poco: 'cuánto costó' y 'si llegó'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Inicial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Sostenibilidad</a:t>
                      </a:r>
                    </a:p>
                  </a:txBody>
                  <a:tcPr marT="12700" marB="12700" marL="50800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Aún no formalizada como criterio de compra</a:t>
                      </a:r>
                    </a:p>
                  </a:txBody>
                  <a:tcPr marT="12700" marB="12700" marL="50800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Incipiente</a:t>
                      </a:r>
                    </a:p>
                  </a:txBody>
                  <a:tcPr marT="12700" marB="12700" marL="50800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3949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55555"/>
                </a:solidFill>
                <a:latin typeface="Calibri"/>
              </a:rPr>
              <a:t>Debilidades clave: falta de datos confiables · sin segmentación del gasto · controles informales · dependencia de proveedores críticos · medición débil.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55555"/>
                </a:solidFill>
                <a:latin typeface="Calibri"/>
              </a:rPr>
              <a:t>Evolti · Módulo 1 — Procurement Estratégico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55555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E09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9A1A"/>
                </a:solidFill>
                <a:latin typeface="Calibri"/>
              </a:rPr>
              <a:t>2 · DIAGNÓSTICO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Riesgos: maverick spend e integridad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164592" cy="1280160"/>
          </a:xfrm>
          <a:prstGeom prst="rect">
            <a:avLst/>
          </a:prstGeom>
          <a:solidFill>
            <a:srgbClr val="E09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554480"/>
            <a:ext cx="10881360" cy="12801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6420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09A1A"/>
                </a:solidFill>
                <a:latin typeface="Calibri"/>
              </a:rPr>
              <a:t>Maverick spend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21408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22222"/>
                </a:solidFill>
                <a:latin typeface="Calibri"/>
              </a:rPr>
              <a:t>Compras por fuera del proceso por urgencia de obra → sobrecosto y menos control.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063239"/>
            <a:ext cx="164592" cy="128016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3063239"/>
            <a:ext cx="10881360" cy="12801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172967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B6E4F"/>
                </a:solidFill>
                <a:latin typeface="Calibri"/>
              </a:rPr>
              <a:t>Integridad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30167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22222"/>
                </a:solidFill>
                <a:latin typeface="Calibri"/>
              </a:rPr>
              <a:t>Adjudicar siempre al mismo proveedor sin comparar; falta de segregación de funciones.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572000"/>
            <a:ext cx="164592" cy="12801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4572000"/>
            <a:ext cx="10881360" cy="12801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68172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3864"/>
                </a:solidFill>
                <a:latin typeface="Calibri"/>
              </a:rPr>
              <a:t>Centralización 'de hecho'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38928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22222"/>
                </a:solidFill>
                <a:latin typeface="Calibri"/>
              </a:rPr>
              <a:t>Los proyectos compran por su cuenta → se pierde poder de negociación.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55555"/>
                </a:solidFill>
                <a:latin typeface="Calibri"/>
              </a:rPr>
              <a:t>Evolti · Módulo 1 — Procurement Estratégico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5555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E09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9A1A"/>
                </a:solidFill>
                <a:latin typeface="Calibri"/>
              </a:rPr>
              <a:t>3 · ÁRBOL DE CATEGORÍAS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Segmentar el gasto para poder decidir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2651760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26517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1. Componentes</a:t>
            </a:r>
          </a:p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fotovoltaicos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834640"/>
            <a:ext cx="2286000" cy="713232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834640"/>
            <a:ext cx="91440" cy="713232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834640"/>
            <a:ext cx="21031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222"/>
                </a:solidFill>
                <a:latin typeface="Calibri"/>
              </a:rPr>
              <a:t>1.1 Paneles solares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703320"/>
            <a:ext cx="2286000" cy="713232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703320"/>
            <a:ext cx="91440" cy="713232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703320"/>
            <a:ext cx="21031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222"/>
                </a:solidFill>
                <a:latin typeface="Calibri"/>
              </a:rPr>
              <a:t>1.2 Inversores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5848" y="1600200"/>
            <a:ext cx="2651760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55848" y="1645920"/>
            <a:ext cx="26517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2. Estructuras</a:t>
            </a:r>
          </a:p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y montaje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38728" y="2834640"/>
            <a:ext cx="2286000" cy="713232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38728" y="2834640"/>
            <a:ext cx="91440" cy="713232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03320" y="2834640"/>
            <a:ext cx="21031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222"/>
                </a:solidFill>
                <a:latin typeface="Calibri"/>
              </a:rPr>
              <a:t>2.1 Soporte (fija/seguidores)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38728" y="3703320"/>
            <a:ext cx="2286000" cy="713232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38728" y="3703320"/>
            <a:ext cx="91440" cy="713232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3703320"/>
            <a:ext cx="21031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222"/>
                </a:solidFill>
                <a:latin typeface="Calibri"/>
              </a:rPr>
              <a:t>2.2 Anclajes y cimentación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1600200"/>
            <a:ext cx="2651760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08776" y="1645920"/>
            <a:ext cx="26517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3. Materiales</a:t>
            </a:r>
          </a:p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eléctricos (BOS)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91656" y="2834640"/>
            <a:ext cx="2286000" cy="713232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91656" y="2834640"/>
            <a:ext cx="91440" cy="713232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834640"/>
            <a:ext cx="21031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222"/>
                </a:solidFill>
                <a:latin typeface="Calibri"/>
              </a:rPr>
              <a:t>3.1 Cableado y conexiones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91656" y="3703320"/>
            <a:ext cx="2286000" cy="713232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91656" y="3703320"/>
            <a:ext cx="91440" cy="713232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703320"/>
            <a:ext cx="21031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222"/>
                </a:solidFill>
                <a:latin typeface="Calibri"/>
              </a:rPr>
              <a:t>3.2 Tableros y transformadores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61704" y="1600200"/>
            <a:ext cx="2651760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61704" y="1645920"/>
            <a:ext cx="26517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4. Obra civil</a:t>
            </a:r>
          </a:p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y servicios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44584" y="2834640"/>
            <a:ext cx="2286000" cy="713232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244584" y="2834640"/>
            <a:ext cx="91440" cy="713232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09176" y="2834640"/>
            <a:ext cx="21031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222"/>
                </a:solidFill>
                <a:latin typeface="Calibri"/>
              </a:rPr>
              <a:t>4.1 Obra civil / mov. tierra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44584" y="3703320"/>
            <a:ext cx="2286000" cy="713232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244584" y="3703320"/>
            <a:ext cx="91440" cy="713232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09176" y="3703320"/>
            <a:ext cx="21031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222"/>
                </a:solidFill>
                <a:latin typeface="Calibri"/>
              </a:rPr>
              <a:t>4.2 Transporte e ingeniería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1206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55555"/>
                </a:solidFill>
                <a:latin typeface="Calibri"/>
              </a:rPr>
              <a:t>4 categorías principales · 2 subcategorías cada una. Base para el cubo del gasto y el análisis de Pareto.</a:t>
            </a:r>
          </a:p>
          <a:p>
            <a:pPr algn="l">
              <a:lnSpc>
                <a:spcPct val="110000"/>
              </a:lnSpc>
            </a:pPr>
            <a:r>
              <a:rPr sz="1400" b="0">
                <a:solidFill>
                  <a:srgbClr val="555555"/>
                </a:solidFill>
                <a:latin typeface="Calibri"/>
              </a:rPr>
              <a:t>"No hay estrategia sin segmentación del gasto."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55555"/>
                </a:solidFill>
                <a:latin typeface="Calibri"/>
              </a:rPr>
              <a:t>Evolti · Módulo 1 — Procurement Estratégico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5555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E09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9A1A"/>
                </a:solidFill>
                <a:latin typeface="Calibri"/>
              </a:rPr>
              <a:t>4 · SPEND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Análisis de Pareto (80/20)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6400798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3882"/>
                <a:gridCol w="1506070"/>
                <a:gridCol w="941294"/>
                <a:gridCol w="1129552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Categoría</a:t>
                      </a:r>
                    </a:p>
                  </a:txBody>
                  <a:tcPr marT="25400" marB="254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Gasto (MM)</a:t>
                      </a:r>
                    </a:p>
                  </a:txBody>
                  <a:tcPr marT="25400" marB="254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 marT="25400" marB="254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% acum.</a:t>
                      </a:r>
                    </a:p>
                  </a:txBody>
                  <a:tcPr marT="25400" marB="25400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1. Fotovoltaicos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18.000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45%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45%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2. Estructuras</a:t>
                      </a:r>
                    </a:p>
                  </a:txBody>
                  <a:tcPr marT="12700" marB="12700" marL="50800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8.000</a:t>
                      </a:r>
                    </a:p>
                  </a:txBody>
                  <a:tcPr marT="12700" marB="12700" marL="50800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marT="12700" marB="12700" marL="50800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65%</a:t>
                      </a:r>
                    </a:p>
                  </a:txBody>
                  <a:tcPr marT="12700" marB="12700" marL="50800">
                    <a:solidFill>
                      <a:srgbClr val="F2F5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3. Eléctricos (BOS)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6.000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80%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4. Obra civil/serv.</a:t>
                      </a:r>
                    </a:p>
                  </a:txBody>
                  <a:tcPr marT="12700" marB="12700" marL="50800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5.200</a:t>
                      </a:r>
                    </a:p>
                  </a:txBody>
                  <a:tcPr marT="12700" marB="12700" marL="50800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13%</a:t>
                      </a:r>
                    </a:p>
                  </a:txBody>
                  <a:tcPr marT="12700" marB="12700" marL="50800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93%</a:t>
                      </a:r>
                    </a:p>
                  </a:txBody>
                  <a:tcPr marT="12700" marB="12700" marL="50800">
                    <a:solidFill>
                      <a:srgbClr val="F2F5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Otras menores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2.800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7%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T="12700" marB="12700" marL="50800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40.000</a:t>
                      </a:r>
                    </a:p>
                  </a:txBody>
                  <a:tcPr marT="12700" marB="12700" marL="50800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T="12700" marB="12700" marL="50800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12700" marB="12700" marL="50800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315200" y="2194560"/>
            <a:ext cx="548640" cy="292608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69480" y="51206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Fot.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1901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6E4F"/>
                </a:solidFill>
                <a:latin typeface="Calibri"/>
              </a:rPr>
              <a:t>45%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3820160"/>
            <a:ext cx="548640" cy="130048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51206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Estr.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5275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6E4F"/>
                </a:solidFill>
                <a:latin typeface="Calibri"/>
              </a:rPr>
              <a:t>20%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0" y="4145280"/>
            <a:ext cx="548640" cy="975360"/>
          </a:xfrm>
          <a:prstGeom prst="rect">
            <a:avLst/>
          </a:prstGeom>
          <a:solidFill>
            <a:srgbClr val="E09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51206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Eléc.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385267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E09A1A"/>
                </a:solidFill>
                <a:latin typeface="Calibri"/>
              </a:rPr>
              <a:t>15%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46920" y="4275328"/>
            <a:ext cx="548640" cy="84531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51206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Obra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39827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F3864"/>
                </a:solidFill>
                <a:latin typeface="Calibri"/>
              </a:rPr>
              <a:t>13%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24160" y="4665472"/>
            <a:ext cx="548640" cy="455168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78440" y="51206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Otras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78440" y="437286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555555"/>
                </a:solidFill>
                <a:latin typeface="Calibri"/>
              </a:rPr>
              <a:t>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1554480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3864"/>
                </a:solidFill>
                <a:latin typeface="Calibri"/>
              </a:rPr>
              <a:t>Concentración del gasto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8521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6E4F"/>
                </a:solidFill>
                <a:latin typeface="Calibri"/>
              </a:rPr>
              <a:t>Hallazgo: Top 2 = 65% · Top 3 = 80% del gasto. Foco inicial en fotovoltaicos y estructuras.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55555"/>
                </a:solidFill>
                <a:latin typeface="Calibri"/>
              </a:rPr>
              <a:t>Evolti · Módulo 1 — Procurement Estratégico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55555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E09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9A1A"/>
                </a:solidFill>
                <a:latin typeface="Calibri"/>
              </a:rPr>
              <a:t>4 · SPEND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Gasto impactado: ahorros creíbles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222222"/>
                </a:solidFill>
                <a:latin typeface="Calibri"/>
              </a:rPr>
              <a:t>No se promete ahorro sobre toda la categoría, sino sobre lo que realmente se puede intervenir.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2606040" cy="21945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2606040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14600"/>
            <a:ext cx="2606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1F3864"/>
                </a:solidFill>
                <a:latin typeface="Calibri"/>
              </a:rPr>
              <a:t>$18.000 MM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24231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222222"/>
                </a:solidFill>
                <a:latin typeface="Calibri"/>
              </a:rPr>
              <a:t>Categoría fotovoltaicos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3017520"/>
            <a:ext cx="457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01568" y="2286000"/>
            <a:ext cx="2606040" cy="21945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1568" y="2286000"/>
            <a:ext cx="2606040" cy="109728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01568" y="2514600"/>
            <a:ext cx="2606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0B6E4F"/>
                </a:solidFill>
                <a:latin typeface="Calibri"/>
              </a:rPr>
              <a:t>$4.200 MM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3200400"/>
            <a:ext cx="24231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222222"/>
                </a:solidFill>
                <a:latin typeface="Calibri"/>
              </a:rPr>
              <a:t>Subcat. inversores (con palanca)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33288" y="3017520"/>
            <a:ext cx="457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54496" y="2286000"/>
            <a:ext cx="2606040" cy="21945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54496" y="2286000"/>
            <a:ext cx="2606040" cy="109728"/>
          </a:xfrm>
          <a:prstGeom prst="rect">
            <a:avLst/>
          </a:prstGeom>
          <a:solidFill>
            <a:srgbClr val="E09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4496" y="2514600"/>
            <a:ext cx="2606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E09A1A"/>
                </a:solidFill>
                <a:latin typeface="Calibri"/>
              </a:rPr>
              <a:t>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3200400"/>
            <a:ext cx="24231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222222"/>
                </a:solidFill>
                <a:latin typeface="Calibri"/>
              </a:rPr>
              <a:t>Meta de ahorro realista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86216" y="3017520"/>
            <a:ext cx="457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07424" y="2286000"/>
            <a:ext cx="2606040" cy="21945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07424" y="2286000"/>
            <a:ext cx="2606040" cy="109728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07424" y="2514600"/>
            <a:ext cx="2606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0B6E4F"/>
                </a:solidFill>
                <a:latin typeface="Calibri"/>
              </a:rPr>
              <a:t>$336 MM/año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98864" y="3200400"/>
            <a:ext cx="24231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222222"/>
                </a:solidFill>
                <a:latin typeface="Calibri"/>
              </a:rPr>
              <a:t>Ahorro esperado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9377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555555"/>
                </a:solidFill>
                <a:latin typeface="Calibri"/>
              </a:rPr>
              <a:t>Gasto objetivo = 4.200 − 336 = $3.864 MM. El ahorro se calcula sobre el gasto 'que se puede tocar' → propuesta defendible ante la gerencia.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55555"/>
                </a:solidFill>
                <a:latin typeface="Calibri"/>
              </a:rPr>
              <a:t>Evolti · Módulo 1 — Procurement Estratégico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55555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E09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9A1A"/>
                </a:solidFill>
                <a:latin typeface="Calibri"/>
              </a:rPr>
              <a:t>5 · APLICACIÓN ESTRATÉGICA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Matriz de Kraljic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1554480"/>
            <a:ext cx="4206240" cy="19202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0" y="1554480"/>
            <a:ext cx="4206240" cy="45720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1554480"/>
            <a:ext cx="4206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ESTRATÉGICOS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2103120"/>
            <a:ext cx="3931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222222"/>
                </a:solidFill>
                <a:latin typeface="Calibri"/>
              </a:rPr>
              <a:t>Paneles, inversores</a:t>
            </a:r>
          </a:p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222222"/>
                </a:solidFill>
                <a:latin typeface="Calibri"/>
              </a:rPr>
              <a:t>Alianzas, contratos marco, dual sourcing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554480"/>
            <a:ext cx="4206240" cy="19202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554480"/>
            <a:ext cx="4206240" cy="457200"/>
          </a:xfrm>
          <a:prstGeom prst="rect">
            <a:avLst/>
          </a:prstGeom>
          <a:solidFill>
            <a:srgbClr val="E09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4206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CUELLO DE BOTELLA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03120"/>
            <a:ext cx="3931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222222"/>
                </a:solidFill>
                <a:latin typeface="Calibri"/>
              </a:rPr>
              <a:t>Transformadores, equipos esp.</a:t>
            </a:r>
          </a:p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222222"/>
                </a:solidFill>
                <a:latin typeface="Calibri"/>
              </a:rPr>
              <a:t>Stock de seguridad, proveedor alterno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3657600"/>
            <a:ext cx="4206240" cy="19202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0" y="3657600"/>
            <a:ext cx="4206240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3657600"/>
            <a:ext cx="4206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APALANCADOS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4206240"/>
            <a:ext cx="3931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222222"/>
                </a:solidFill>
                <a:latin typeface="Calibri"/>
              </a:rPr>
              <a:t>Estructuras, cableado, obra civil</a:t>
            </a:r>
          </a:p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222222"/>
                </a:solidFill>
                <a:latin typeface="Calibri"/>
              </a:rPr>
              <a:t>Licitar, subastar, consolidar volumen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657600"/>
            <a:ext cx="4206240" cy="19202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3657600"/>
            <a:ext cx="4206240" cy="45720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657600"/>
            <a:ext cx="4206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RUTINARIOS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206240"/>
            <a:ext cx="3931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222222"/>
                </a:solidFill>
                <a:latin typeface="Calibri"/>
              </a:rPr>
              <a:t>Insumos menores, EPP</a:t>
            </a:r>
          </a:p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222222"/>
                </a:solidFill>
                <a:latin typeface="Calibri"/>
              </a:rPr>
              <a:t>Automatizar con catálogos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1554480"/>
            <a:ext cx="1645920" cy="3931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F3864"/>
                </a:solidFill>
                <a:latin typeface="Calibri"/>
              </a:rPr>
              <a:t>IMPACTO EN EL RESULTADO  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532120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F3864"/>
                </a:solidFill>
                <a:latin typeface="Calibri"/>
              </a:rPr>
              <a:t>RIESGO DE SUMINISTRO  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1737360"/>
            <a:ext cx="53035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B6E4F"/>
                </a:solidFill>
                <a:latin typeface="Calibri"/>
              </a:rPr>
              <a:t>Categorías críticas: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194560"/>
            <a:ext cx="5394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Paneles e inversores (estratégicos): planeación conjunta y contratos de largo plazo.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Transformadores (cuello de botella): anticipar y asegurar suministro.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Estrategia diferenciada por cuadrante = mejor uso del equipo.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55555"/>
                </a:solidFill>
                <a:latin typeface="Calibri"/>
              </a:rPr>
              <a:t>Evolti · Módulo 1 — Procurement Estratégico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55555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E09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9A1A"/>
                </a:solidFill>
                <a:latin typeface="Calibri"/>
              </a:rPr>
              <a:t>6 ·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Tablero de indicadores estratégicos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24712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6300"/>
                <a:gridCol w="2811780"/>
                <a:gridCol w="1499616"/>
                <a:gridCol w="2249424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KPI (dimensión)</a:t>
                      </a:r>
                    </a:p>
                  </a:txBody>
                  <a:tcPr marT="25400" marB="254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Objetivo</a:t>
                      </a:r>
                    </a:p>
                  </a:txBody>
                  <a:tcPr marT="25400" marB="254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Period.</a:t>
                      </a:r>
                    </a:p>
                  </a:txBody>
                  <a:tcPr marT="25400" marB="254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Responsable</a:t>
                      </a:r>
                    </a:p>
                  </a:txBody>
                  <a:tcPr marT="25400" marB="25400"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Tiempo de ciclo de compra (Eficiencia)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Reducir ciclo y urgencias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Mensual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Analista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Entrega a tiempo OTD (Desempeño prov.)</a:t>
                      </a:r>
                    </a:p>
                  </a:txBody>
                  <a:tcPr marT="12700" marB="12700" marL="50800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≥ 92%</a:t>
                      </a:r>
                    </a:p>
                  </a:txBody>
                  <a:tcPr marT="12700" marB="12700" marL="50800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Mensual</a:t>
                      </a:r>
                    </a:p>
                  </a:txBody>
                  <a:tcPr marT="12700" marB="12700" marL="50800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Coordinador</a:t>
                      </a:r>
                    </a:p>
                  </a:txBody>
                  <a:tcPr marT="12700" marB="12700" marL="50800">
                    <a:solidFill>
                      <a:srgbClr val="F2F5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Críticos con plan de continuidad (Riesgo)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Trimestral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Jefe abastec.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Gasto bajo contrato (Cumplimiento)</a:t>
                      </a:r>
                    </a:p>
                  </a:txBody>
                  <a:tcPr marT="12700" marB="12700" marL="50800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≥ 85%</a:t>
                      </a:r>
                    </a:p>
                  </a:txBody>
                  <a:tcPr marT="12700" marB="12700" marL="50800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Mensual</a:t>
                      </a:r>
                    </a:p>
                  </a:txBody>
                  <a:tcPr marT="12700" marB="12700" marL="50800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Jefe abastec.</a:t>
                      </a:r>
                    </a:p>
                  </a:txBody>
                  <a:tcPr marT="12700" marB="12700" marL="50800">
                    <a:solidFill>
                      <a:srgbClr val="F2F5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Compras sostenibles ESG (Sostenibilidad)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≥ 30% (ISO 20400)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Trimestral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Compras+Gerencia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3949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55555"/>
                </a:solidFill>
                <a:latin typeface="Calibri"/>
              </a:rPr>
              <a:t>Metas tipo semáforo (verde/amarillo/rojo). Cuidar riesgos: métricas vanidosas, inflar ahorros, greenwashing.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55555"/>
                </a:solidFill>
                <a:latin typeface="Calibri"/>
              </a:rPr>
              <a:t>Evolti · Módulo 1 — Procurement Estratégico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55555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E09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9A1A"/>
                </a:solidFill>
                <a:latin typeface="Calibri"/>
              </a:rPr>
              <a:t>7 · GOBIERNO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Modelo híbrido: RACI y umbrales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6E4F"/>
                </a:solidFill>
                <a:latin typeface="Calibri"/>
              </a:rPr>
              <a:t>Matriz RACI (extracto)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28800"/>
          <a:ext cx="566927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4904"/>
                <a:gridCol w="821634"/>
                <a:gridCol w="903798"/>
                <a:gridCol w="739471"/>
                <a:gridCol w="739471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Actividad</a:t>
                      </a:r>
                    </a:p>
                  </a:txBody>
                  <a:tcPr marT="25400" marB="254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Solic.</a:t>
                      </a:r>
                    </a:p>
                  </a:txBody>
                  <a:tcPr marT="25400" marB="254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Compras</a:t>
                      </a:r>
                    </a:p>
                  </a:txBody>
                  <a:tcPr marT="25400" marB="254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Jefe</a:t>
                      </a:r>
                    </a:p>
                  </a:txBody>
                  <a:tcPr marT="25400" marB="254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Gcia</a:t>
                      </a:r>
                    </a:p>
                  </a:txBody>
                  <a:tcPr marT="25400" marB="25400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Requisición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Cotizar/comparar</a:t>
                      </a:r>
                    </a:p>
                  </a:txBody>
                  <a:tcPr marT="12700" marB="12700" marL="50800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T="12700" marB="12700" marL="50800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T="12700" marB="12700" marL="50800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T="12700" marB="12700" marL="50800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12700" marB="12700" marL="50800">
                    <a:solidFill>
                      <a:srgbClr val="F2F5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Adjudicar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Aprobar (umbral)</a:t>
                      </a:r>
                    </a:p>
                  </a:txBody>
                  <a:tcPr marT="12700" marB="12700" marL="50800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12700" marB="12700" marL="50800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T="12700" marB="12700" marL="50800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T="12700" marB="12700" marL="50800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T="12700" marB="12700" marL="50800">
                    <a:solidFill>
                      <a:srgbClr val="F2F5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Pagar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92240" y="14173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6E4F"/>
                </a:solidFill>
                <a:latin typeface="Calibri"/>
              </a:rPr>
              <a:t>Umbrales de aprobación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92240" y="1828800"/>
          <a:ext cx="53035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47472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Monto</a:t>
                      </a:r>
                    </a:p>
                  </a:txBody>
                  <a:tcPr marT="25400" marB="254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Aprueba</a:t>
                      </a:r>
                    </a:p>
                  </a:txBody>
                  <a:tcPr marT="25400" marB="25400"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Hasta $10 MM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Jefe abastecimiento (1 cotiz.)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$10–50 MM</a:t>
                      </a:r>
                    </a:p>
                  </a:txBody>
                  <a:tcPr marT="12700" marB="12700" marL="50800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Jefe + Gcia proyecto (3 cotiz.)</a:t>
                      </a:r>
                    </a:p>
                  </a:txBody>
                  <a:tcPr marT="12700" marB="12700" marL="50800">
                    <a:solidFill>
                      <a:srgbClr val="F2F5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$50–200 MM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Gerencia general + comité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&gt; $200 MM</a:t>
                      </a:r>
                    </a:p>
                  </a:txBody>
                  <a:tcPr marT="12700" marB="12700" marL="50800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Comité directivo / Junta</a:t>
                      </a:r>
                    </a:p>
                  </a:txBody>
                  <a:tcPr marT="12700" marB="12700" marL="50800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029200"/>
            <a:ext cx="111556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55555"/>
                </a:solidFill>
                <a:latin typeface="Calibri"/>
              </a:rPr>
              <a:t>Controles internos: segregación de funciones · mínimo 3 cotizaciones · contratos marco y catálogos (anti-maverick) · trazabilidad del ciclo · declaración de conflictos de interés.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55555"/>
                </a:solidFill>
                <a:latin typeface="Calibri"/>
              </a:rPr>
              <a:t>Evolti · Módulo 1 — Procurement Estratégico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55555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E09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9A1A"/>
                </a:solidFill>
                <a:latin typeface="Calibri"/>
              </a:rPr>
              <a:t>8 · PLAN DE TRANSFORMACIÓN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Hoja de ruta a 12 meses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566160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64208"/>
            <a:ext cx="3566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Fase 1</a:t>
            </a:r>
          </a:p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Meses 1–3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06040"/>
            <a:ext cx="3566160" cy="23774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74320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F3864"/>
                </a:solidFill>
                <a:latin typeface="Calibri"/>
              </a:rPr>
              <a:t>Ordenar datos y gasto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383280"/>
            <a:ext cx="32918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222222"/>
                </a:solidFill>
                <a:latin typeface="Calibri"/>
              </a:rPr>
              <a:t>Base limpia + árbol + cubo + Pareto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3383280"/>
            <a:ext cx="365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645920"/>
            <a:ext cx="3566160" cy="86868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664208"/>
            <a:ext cx="3566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Fase 2</a:t>
            </a:r>
          </a:p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Meses 4–8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2606040"/>
            <a:ext cx="3566160" cy="23774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274320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6E4F"/>
                </a:solidFill>
                <a:latin typeface="Calibri"/>
              </a:rPr>
              <a:t>Negociar categorías clave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383280"/>
            <a:ext cx="32918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222222"/>
                </a:solidFill>
                <a:latin typeface="Calibri"/>
              </a:rPr>
              <a:t>Contratos marco, dual sourcing, licitaciones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383280"/>
            <a:ext cx="365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645920"/>
            <a:ext cx="3566160" cy="868680"/>
          </a:xfrm>
          <a:prstGeom prst="rect">
            <a:avLst/>
          </a:prstGeom>
          <a:solidFill>
            <a:srgbClr val="E09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664208"/>
            <a:ext cx="3566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Fase 3</a:t>
            </a:r>
          </a:p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Meses 9–12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2606040"/>
            <a:ext cx="3566160" cy="23774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274320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09A1A"/>
                </a:solidFill>
                <a:latin typeface="Calibri"/>
              </a:rPr>
              <a:t>Gobierno, KPIs y ESG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383280"/>
            <a:ext cx="32918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222222"/>
                </a:solidFill>
                <a:latin typeface="Calibri"/>
              </a:rPr>
              <a:t>Política, RACI, umbrales, tablero, ISO 20400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212080"/>
            <a:ext cx="11155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55555"/>
                </a:solidFill>
                <a:latin typeface="Calibri"/>
              </a:rPr>
              <a:t>Riesgos del cambio: resistencia de obra · falta de tiempo del equipo · calidad de datos · buscar solo ahorro. Mitigación: quick wins, comunicación y patrocinio de la gerencia.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55555"/>
                </a:solidFill>
                <a:latin typeface="Calibri"/>
              </a:rPr>
              <a:t>Evolti · Módulo 1 — Procurement Estratégico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55555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E09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Impacto esperado y conclusión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3474720" cy="2103120"/>
          </a:xfrm>
          <a:prstGeom prst="rect">
            <a:avLst/>
          </a:prstGeom>
          <a:solidFill>
            <a:srgbClr val="2A4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3474720" cy="109728"/>
          </a:xfrm>
          <a:prstGeom prst="rect">
            <a:avLst/>
          </a:prstGeom>
          <a:solidFill>
            <a:srgbClr val="E09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34747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E09A1A"/>
                </a:solidFill>
                <a:latin typeface="Calibri"/>
              </a:rPr>
              <a:t>8–12%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Ahorro sobre gasto impactado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737360"/>
            <a:ext cx="3474720" cy="2103120"/>
          </a:xfrm>
          <a:prstGeom prst="rect">
            <a:avLst/>
          </a:prstGeom>
          <a:solidFill>
            <a:srgbClr val="2A4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737360"/>
            <a:ext cx="3474720" cy="109728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103120"/>
            <a:ext cx="34747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0B6E4F"/>
                </a:solidFill>
                <a:latin typeface="Calibri"/>
              </a:rPr>
              <a:t>−Riesgo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97180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Continuidad y control (dual sourcing, segregación)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59" y="1737360"/>
            <a:ext cx="3474720" cy="2103120"/>
          </a:xfrm>
          <a:prstGeom prst="rect">
            <a:avLst/>
          </a:prstGeom>
          <a:solidFill>
            <a:srgbClr val="2A4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59" y="1737360"/>
            <a:ext cx="3474720" cy="109728"/>
          </a:xfrm>
          <a:prstGeom prst="rect">
            <a:avLst/>
          </a:prstGeom>
          <a:solidFill>
            <a:srgbClr val="E09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59" y="2103120"/>
            <a:ext cx="34747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E09A1A"/>
                </a:solidFill>
                <a:latin typeface="Calibri"/>
              </a:rPr>
              <a:t>+Competitividad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39" y="297180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Cumplir cronogramas y sumar sostenibilidad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97680"/>
            <a:ext cx="108813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F2F5F7"/>
                </a:solidFill>
                <a:latin typeface="Calibri"/>
              </a:rPr>
              <a:t>Evolti pasa de compras tácticas a procurement estratégico cuando tiene datos confiables, estructura, foco (Pareto), alcance real (gasto impactado), mecanismos adecuados y control con KPIs. Compras deja de 'apagar incendios' y se convierte en una palanca de valor para toda la empresa.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126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E09A1A"/>
                </a:solidFill>
                <a:latin typeface="Calibri"/>
              </a:rPr>
              <a:t>¡Gracias!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